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Lexend ExtraBold"/>
      <p:bold r:id="rId20"/>
    </p:embeddedFont>
    <p:embeddedFont>
      <p:font typeface="Lexend SemiBold"/>
      <p:regular r:id="rId21"/>
      <p:bold r:id="rId22"/>
    </p:embeddedFont>
    <p:embeddedFont>
      <p:font typeface="Lexend"/>
      <p:regular r:id="rId23"/>
      <p:bold r:id="rId24"/>
    </p:embeddedFont>
    <p:embeddedFont>
      <p:font typeface="Lexend Black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exendExtraBold-bold.fntdata"/><Relationship Id="rId22" Type="http://schemas.openxmlformats.org/officeDocument/2006/relationships/font" Target="fonts/LexendSemiBold-bold.fntdata"/><Relationship Id="rId21" Type="http://schemas.openxmlformats.org/officeDocument/2006/relationships/font" Target="fonts/LexendSemiBold-regular.fntdata"/><Relationship Id="rId24" Type="http://schemas.openxmlformats.org/officeDocument/2006/relationships/font" Target="fonts/Lexend-bold.fntdata"/><Relationship Id="rId23" Type="http://schemas.openxmlformats.org/officeDocument/2006/relationships/font" Target="fonts/Lexen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exendBlack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04c08e35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04c08e35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1379fd28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1379fd28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1379fd28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1379fd28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1379fd287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1379fd28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04c08e35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04c08e35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1379fd287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1379fd287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1379fd287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1379fd287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1379fd287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1379fd287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1379fd287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1379fd287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1379fd287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1379fd287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1379fd287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1379fd287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1379fd287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1379fd287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1379fd28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1379fd28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43434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40275" y="815850"/>
            <a:ext cx="8469900" cy="351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3400"/>
              </a:spcBef>
              <a:spcAft>
                <a:spcPts val="1400"/>
              </a:spcAft>
              <a:buNone/>
            </a:pPr>
            <a:r>
              <a:rPr lang="es" sz="5000">
                <a:solidFill>
                  <a:schemeClr val="lt1"/>
                </a:solidFill>
                <a:latin typeface="Lexend Black"/>
                <a:ea typeface="Lexend Black"/>
                <a:cs typeface="Lexend Black"/>
                <a:sym typeface="Lexend Black"/>
              </a:rPr>
              <a:t>MOCR: Recuperando discos NTFS después de NotPetya</a:t>
            </a:r>
            <a:endParaRPr sz="5000">
              <a:solidFill>
                <a:schemeClr val="lt1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foto_perfi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863" y="1145600"/>
            <a:ext cx="1595850" cy="159585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3415950" y="190750"/>
            <a:ext cx="2695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chemeClr val="lt1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About me</a:t>
            </a:r>
            <a:endParaRPr sz="3600">
              <a:solidFill>
                <a:schemeClr val="lt1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</p:txBody>
      </p:sp>
      <p:pic>
        <p:nvPicPr>
          <p:cNvPr descr="Archivo:GitHub Invertocat Logo.svg - Wikipedia, la enciclopedia libre"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9807" y="3237688"/>
            <a:ext cx="397978" cy="3979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LinkedIn icon.svg - Wikimedia Commons" id="62" name="Google Shape;6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62801" y="3782438"/>
            <a:ext cx="371963" cy="371963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2349737" y="4241298"/>
            <a:ext cx="398100" cy="5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73200" lIns="73200" spcFirstLastPara="1" rIns="73200" wrap="square" tIns="73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2">
                <a:solidFill>
                  <a:schemeClr val="lt1"/>
                </a:solidFill>
                <a:latin typeface="Lexend Black"/>
                <a:ea typeface="Lexend Black"/>
                <a:cs typeface="Lexend Black"/>
                <a:sym typeface="Lexend Black"/>
              </a:rPr>
              <a:t>@</a:t>
            </a:r>
            <a:endParaRPr sz="2402">
              <a:solidFill>
                <a:schemeClr val="lt1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2738137" y="3270315"/>
            <a:ext cx="19854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73200" lIns="73200" spcFirstLastPara="1" rIns="73200" wrap="square" tIns="732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1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github.com/younesjarir</a:t>
            </a:r>
            <a:endParaRPr sz="1201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2743337" y="3802085"/>
            <a:ext cx="23817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73200" lIns="73200" spcFirstLastPara="1" rIns="73200" wrap="square" tIns="732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1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linkedin.com/in/younes-jarir</a:t>
            </a:r>
            <a:endParaRPr sz="1201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2738710" y="4333856"/>
            <a:ext cx="19854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73200" lIns="73200" spcFirstLastPara="1" rIns="73200" wrap="square" tIns="73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1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info@younesjarir.com</a:t>
            </a:r>
            <a:endParaRPr sz="1201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2349750" y="1158575"/>
            <a:ext cx="47238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Younes Jarir Ezzahraoui</a:t>
            </a:r>
            <a:endParaRPr sz="1500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0C3FF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Analista de sistemas</a:t>
            </a:r>
            <a:endParaRPr sz="1500">
              <a:solidFill>
                <a:srgbClr val="00C3FF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Grado en Ciberseguridad (en curso)</a:t>
            </a:r>
            <a:endParaRPr sz="1500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ctrTitle"/>
          </p:nvPr>
        </p:nvSpPr>
        <p:spPr>
          <a:xfrm>
            <a:off x="1876200" y="1385475"/>
            <a:ext cx="5391600" cy="94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0">
                <a:solidFill>
                  <a:schemeClr val="lt1"/>
                </a:solidFill>
                <a:latin typeface="Lexend Black"/>
                <a:ea typeface="Lexend Black"/>
                <a:cs typeface="Lexend Black"/>
                <a:sym typeface="Lexend Black"/>
              </a:rPr>
              <a:t>NotPetya</a:t>
            </a:r>
            <a:endParaRPr sz="5000">
              <a:solidFill>
                <a:schemeClr val="lt1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ctrTitle"/>
          </p:nvPr>
        </p:nvSpPr>
        <p:spPr>
          <a:xfrm>
            <a:off x="1876200" y="1385475"/>
            <a:ext cx="5391600" cy="94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0">
                <a:solidFill>
                  <a:schemeClr val="lt1"/>
                </a:solidFill>
                <a:latin typeface="Lexend Black"/>
                <a:ea typeface="Lexend Black"/>
                <a:cs typeface="Lexend Black"/>
                <a:sym typeface="Lexend Black"/>
              </a:rPr>
              <a:t>NotPetya</a:t>
            </a:r>
            <a:endParaRPr sz="5000">
              <a:solidFill>
                <a:schemeClr val="lt1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  <p:sp>
        <p:nvSpPr>
          <p:cNvPr id="83" name="Google Shape;83;p17"/>
          <p:cNvSpPr txBox="1"/>
          <p:nvPr>
            <p:ph type="ctrTitle"/>
          </p:nvPr>
        </p:nvSpPr>
        <p:spPr>
          <a:xfrm>
            <a:off x="443950" y="2931550"/>
            <a:ext cx="7376400" cy="14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Pérdidas de entre </a:t>
            </a:r>
            <a:r>
              <a:rPr b="1" lang="es" sz="2400">
                <a:solidFill>
                  <a:srgbClr val="CC0000"/>
                </a:solidFill>
                <a:latin typeface="Lexend"/>
                <a:ea typeface="Lexend"/>
                <a:cs typeface="Lexend"/>
                <a:sym typeface="Lexend"/>
              </a:rPr>
              <a:t>10 y 11 mil millones de dólares</a:t>
            </a:r>
            <a:endParaRPr b="1" sz="2400">
              <a:solidFill>
                <a:srgbClr val="CC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2300 empresas afectadas alrededor de 100 países</a:t>
            </a:r>
            <a:endParaRPr b="1" sz="24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8" title="picture.png"/>
          <p:cNvPicPr preferRelativeResize="0"/>
          <p:nvPr/>
        </p:nvPicPr>
        <p:blipFill rotWithShape="1">
          <a:blip r:embed="rId3">
            <a:alphaModFix/>
          </a:blip>
          <a:srcRect b="8343" l="5649" r="49655" t="5819"/>
          <a:stretch/>
        </p:blipFill>
        <p:spPr>
          <a:xfrm>
            <a:off x="-1" y="0"/>
            <a:ext cx="4734776" cy="5115076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8"/>
          <p:cNvSpPr txBox="1"/>
          <p:nvPr>
            <p:ph idx="4294967295" type="ctrTitle"/>
          </p:nvPr>
        </p:nvSpPr>
        <p:spPr>
          <a:xfrm>
            <a:off x="5934089" y="440222"/>
            <a:ext cx="1647600" cy="67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0">
                <a:solidFill>
                  <a:schemeClr val="lt1"/>
                </a:solidFill>
                <a:latin typeface="Lexend Black"/>
                <a:ea typeface="Lexend Black"/>
                <a:cs typeface="Lexend Black"/>
                <a:sym typeface="Lexend Black"/>
              </a:rPr>
              <a:t>MFT</a:t>
            </a:r>
            <a:endParaRPr sz="5000">
              <a:solidFill>
                <a:schemeClr val="lt1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  <p:sp>
        <p:nvSpPr>
          <p:cNvPr id="90" name="Google Shape;90;p18"/>
          <p:cNvSpPr txBox="1"/>
          <p:nvPr>
            <p:ph idx="4294967295" type="ctrTitle"/>
          </p:nvPr>
        </p:nvSpPr>
        <p:spPr>
          <a:xfrm>
            <a:off x="5180025" y="1119422"/>
            <a:ext cx="3168600" cy="67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lt1"/>
                </a:solidFill>
                <a:latin typeface="Lexend Black"/>
                <a:ea typeface="Lexend Black"/>
                <a:cs typeface="Lexend Black"/>
                <a:sym typeface="Lexend Black"/>
              </a:rPr>
              <a:t>Master File Table</a:t>
            </a:r>
            <a:endParaRPr sz="2400">
              <a:solidFill>
                <a:schemeClr val="lt1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  <p:sp>
        <p:nvSpPr>
          <p:cNvPr id="91" name="Google Shape;91;p18"/>
          <p:cNvSpPr txBox="1"/>
          <p:nvPr>
            <p:ph idx="4294967295" type="ctrTitle"/>
          </p:nvPr>
        </p:nvSpPr>
        <p:spPr>
          <a:xfrm>
            <a:off x="5759297" y="1798622"/>
            <a:ext cx="2035800" cy="67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0">
                <a:solidFill>
                  <a:schemeClr val="lt1"/>
                </a:solidFill>
                <a:latin typeface="Lexend Black"/>
                <a:ea typeface="Lexend Black"/>
                <a:cs typeface="Lexend Black"/>
                <a:sym typeface="Lexend Black"/>
              </a:rPr>
              <a:t>MBR</a:t>
            </a:r>
            <a:endParaRPr sz="5000">
              <a:solidFill>
                <a:schemeClr val="lt1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  <p:sp>
        <p:nvSpPr>
          <p:cNvPr id="92" name="Google Shape;92;p18"/>
          <p:cNvSpPr txBox="1"/>
          <p:nvPr>
            <p:ph idx="4294967295" type="ctrTitle"/>
          </p:nvPr>
        </p:nvSpPr>
        <p:spPr>
          <a:xfrm>
            <a:off x="5158707" y="2477822"/>
            <a:ext cx="3608100" cy="67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lt1"/>
                </a:solidFill>
                <a:latin typeface="Lexend Black"/>
                <a:ea typeface="Lexend Black"/>
                <a:cs typeface="Lexend Black"/>
                <a:sym typeface="Lexend Black"/>
              </a:rPr>
              <a:t>Master Boot Record</a:t>
            </a:r>
            <a:endParaRPr sz="2400">
              <a:solidFill>
                <a:schemeClr val="lt1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  <p:sp>
        <p:nvSpPr>
          <p:cNvPr id="93" name="Google Shape;93;p18"/>
          <p:cNvSpPr txBox="1"/>
          <p:nvPr>
            <p:ph idx="4294967295" type="ctrTitle"/>
          </p:nvPr>
        </p:nvSpPr>
        <p:spPr>
          <a:xfrm>
            <a:off x="5953397" y="3341172"/>
            <a:ext cx="1647600" cy="67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0">
                <a:solidFill>
                  <a:schemeClr val="lt1"/>
                </a:solidFill>
                <a:latin typeface="Lexend Black"/>
                <a:ea typeface="Lexend Black"/>
                <a:cs typeface="Lexend Black"/>
                <a:sym typeface="Lexend Black"/>
              </a:rPr>
              <a:t>VBR</a:t>
            </a:r>
            <a:endParaRPr sz="5000">
              <a:solidFill>
                <a:schemeClr val="lt1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  <p:sp>
        <p:nvSpPr>
          <p:cNvPr id="94" name="Google Shape;94;p18"/>
          <p:cNvSpPr txBox="1"/>
          <p:nvPr>
            <p:ph idx="4294967295" type="ctrTitle"/>
          </p:nvPr>
        </p:nvSpPr>
        <p:spPr>
          <a:xfrm>
            <a:off x="5208146" y="4020372"/>
            <a:ext cx="3668100" cy="67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lt1"/>
                </a:solidFill>
                <a:latin typeface="Lexend Black"/>
                <a:ea typeface="Lexend Black"/>
                <a:cs typeface="Lexend Black"/>
                <a:sym typeface="Lexend Black"/>
              </a:rPr>
              <a:t>Volume Boot Record</a:t>
            </a:r>
            <a:endParaRPr sz="2400">
              <a:solidFill>
                <a:schemeClr val="lt1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idx="4294967295" type="ctrTitle"/>
          </p:nvPr>
        </p:nvSpPr>
        <p:spPr>
          <a:xfrm>
            <a:off x="0" y="342875"/>
            <a:ext cx="9144000" cy="94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0">
                <a:solidFill>
                  <a:schemeClr val="lt1"/>
                </a:solidFill>
                <a:latin typeface="Lexend Black"/>
                <a:ea typeface="Lexend Black"/>
                <a:cs typeface="Lexend Black"/>
                <a:sym typeface="Lexend Black"/>
              </a:rPr>
              <a:t>MOCR</a:t>
            </a:r>
            <a:endParaRPr sz="5000">
              <a:solidFill>
                <a:schemeClr val="lt1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  <p:sp>
        <p:nvSpPr>
          <p:cNvPr id="100" name="Google Shape;100;p19"/>
          <p:cNvSpPr txBox="1"/>
          <p:nvPr>
            <p:ph idx="4294967295" type="ctrTitle"/>
          </p:nvPr>
        </p:nvSpPr>
        <p:spPr>
          <a:xfrm>
            <a:off x="333075" y="1904725"/>
            <a:ext cx="8517600" cy="94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lt1"/>
                </a:solidFill>
                <a:latin typeface="Lexend Black"/>
                <a:ea typeface="Lexend Black"/>
                <a:cs typeface="Lexend Black"/>
                <a:sym typeface="Lexend Black"/>
              </a:rPr>
              <a:t>M</a:t>
            </a:r>
            <a:r>
              <a:rPr lang="es" sz="2400">
                <a:solidFill>
                  <a:schemeClr val="lt1"/>
                </a:solidFill>
                <a:latin typeface="Lexend Black"/>
                <a:ea typeface="Lexend Black"/>
                <a:cs typeface="Lexend Black"/>
                <a:sym typeface="Lexend Black"/>
              </a:rPr>
              <a:t>FT </a:t>
            </a:r>
            <a:r>
              <a:rPr lang="es" sz="2400">
                <a:solidFill>
                  <a:schemeClr val="lt1"/>
                </a:solidFill>
                <a:latin typeface="Lexend Black"/>
                <a:ea typeface="Lexend Black"/>
                <a:cs typeface="Lexend Black"/>
                <a:sym typeface="Lexend Black"/>
              </a:rPr>
              <a:t>OVERLAY CONTROLLED RECOVERY</a:t>
            </a:r>
            <a:endParaRPr sz="2400">
              <a:solidFill>
                <a:schemeClr val="lt1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idx="4294967295" type="ctrTitle"/>
          </p:nvPr>
        </p:nvSpPr>
        <p:spPr>
          <a:xfrm>
            <a:off x="0" y="342875"/>
            <a:ext cx="9144000" cy="94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0">
                <a:solidFill>
                  <a:schemeClr val="lt1"/>
                </a:solidFill>
                <a:latin typeface="Lexend Black"/>
                <a:ea typeface="Lexend Black"/>
                <a:cs typeface="Lexend Black"/>
                <a:sym typeface="Lexend Black"/>
              </a:rPr>
              <a:t>MOCR</a:t>
            </a:r>
            <a:endParaRPr sz="5000">
              <a:solidFill>
                <a:schemeClr val="lt1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  <p:sp>
        <p:nvSpPr>
          <p:cNvPr id="106" name="Google Shape;106;p20"/>
          <p:cNvSpPr txBox="1"/>
          <p:nvPr>
            <p:ph idx="4294967295" type="ctrTitle"/>
          </p:nvPr>
        </p:nvSpPr>
        <p:spPr>
          <a:xfrm>
            <a:off x="0" y="1904725"/>
            <a:ext cx="9144000" cy="94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lt1"/>
                </a:solidFill>
                <a:latin typeface="Lexend Black"/>
                <a:ea typeface="Lexend Black"/>
                <a:cs typeface="Lexend Black"/>
                <a:sym typeface="Lexend Black"/>
              </a:rPr>
              <a:t>MFT OVERLAY CONTROLLED RECOVERY</a:t>
            </a:r>
            <a:endParaRPr sz="2400">
              <a:solidFill>
                <a:schemeClr val="lt1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  <p:sp>
        <p:nvSpPr>
          <p:cNvPr id="107" name="Google Shape;107;p20"/>
          <p:cNvSpPr txBox="1"/>
          <p:nvPr>
            <p:ph idx="4294967295" type="ctrTitle"/>
          </p:nvPr>
        </p:nvSpPr>
        <p:spPr>
          <a:xfrm>
            <a:off x="0" y="3164100"/>
            <a:ext cx="9144000" cy="94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lt1"/>
                </a:solidFill>
                <a:latin typeface="Lexend Black"/>
                <a:ea typeface="Lexend Black"/>
                <a:cs typeface="Lexend Black"/>
                <a:sym typeface="Lexend Black"/>
              </a:rPr>
              <a:t>Recuperación Controlada de la MFT mediante Superposición</a:t>
            </a:r>
            <a:endParaRPr sz="2400">
              <a:solidFill>
                <a:schemeClr val="lt1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idx="4294967295" type="ctrTitle"/>
          </p:nvPr>
        </p:nvSpPr>
        <p:spPr>
          <a:xfrm>
            <a:off x="0" y="342875"/>
            <a:ext cx="9144000" cy="94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0">
                <a:solidFill>
                  <a:schemeClr val="lt1"/>
                </a:solidFill>
                <a:latin typeface="Lexend Black"/>
                <a:ea typeface="Lexend Black"/>
                <a:cs typeface="Lexend Black"/>
                <a:sym typeface="Lexend Black"/>
              </a:rPr>
              <a:t>MOCR</a:t>
            </a:r>
            <a:endParaRPr sz="5000">
              <a:solidFill>
                <a:schemeClr val="lt1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  <p:sp>
        <p:nvSpPr>
          <p:cNvPr id="113" name="Google Shape;113;p21"/>
          <p:cNvSpPr txBox="1"/>
          <p:nvPr>
            <p:ph idx="4294967295" type="ctrTitle"/>
          </p:nvPr>
        </p:nvSpPr>
        <p:spPr>
          <a:xfrm>
            <a:off x="0" y="1988375"/>
            <a:ext cx="9144000" cy="94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Inye</a:t>
            </a:r>
            <a:r>
              <a:rPr b="1" lang="es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cción de</a:t>
            </a:r>
            <a:r>
              <a:rPr b="1" lang="es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una </a:t>
            </a:r>
            <a:r>
              <a:rPr b="1" lang="es" sz="2400">
                <a:solidFill>
                  <a:srgbClr val="00C3FF"/>
                </a:solidFill>
                <a:latin typeface="Lexend"/>
                <a:ea typeface="Lexend"/>
                <a:cs typeface="Lexend"/>
                <a:sym typeface="Lexend"/>
              </a:rPr>
              <a:t>MFT donante</a:t>
            </a:r>
            <a:r>
              <a:rPr b="1" lang="es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modificada en el disco infectado </a:t>
            </a:r>
            <a:endParaRPr b="1" sz="24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idx="4294967295" type="ctrTitle"/>
          </p:nvPr>
        </p:nvSpPr>
        <p:spPr>
          <a:xfrm>
            <a:off x="0" y="342875"/>
            <a:ext cx="9144000" cy="94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0">
                <a:solidFill>
                  <a:schemeClr val="lt1"/>
                </a:solidFill>
                <a:latin typeface="Lexend Black"/>
                <a:ea typeface="Lexend Black"/>
                <a:cs typeface="Lexend Black"/>
                <a:sym typeface="Lexend Black"/>
              </a:rPr>
              <a:t>AVISO</a:t>
            </a:r>
            <a:endParaRPr sz="5000">
              <a:solidFill>
                <a:schemeClr val="lt1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  <p:sp>
        <p:nvSpPr>
          <p:cNvPr id="119" name="Google Shape;119;p22"/>
          <p:cNvSpPr txBox="1"/>
          <p:nvPr>
            <p:ph idx="4294967295" type="ctrTitle"/>
          </p:nvPr>
        </p:nvSpPr>
        <p:spPr>
          <a:xfrm>
            <a:off x="148175" y="1566475"/>
            <a:ext cx="8735400" cy="286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Para que la MOCR funcione, la MFT donante debe provenir de un disco que sea exacto al dañado </a:t>
            </a:r>
            <a:r>
              <a:rPr b="1" lang="es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Modelo, capacidad, versión del SO, versión de las actualizaciones del SO.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La MOCR se encuentra en proceso de documentación.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Toda la documentación y el código estarán disponibles en mi GitHub. 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idx="4294967295" type="ctrTitle"/>
          </p:nvPr>
        </p:nvSpPr>
        <p:spPr>
          <a:xfrm>
            <a:off x="0" y="2254325"/>
            <a:ext cx="9144000" cy="94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0">
                <a:solidFill>
                  <a:schemeClr val="lt1"/>
                </a:solidFill>
                <a:latin typeface="Lexend Black"/>
                <a:ea typeface="Lexend Black"/>
                <a:cs typeface="Lexend Black"/>
                <a:sym typeface="Lexend Black"/>
              </a:rPr>
              <a:t>¿Cómo funciona?</a:t>
            </a:r>
            <a:endParaRPr sz="6000">
              <a:solidFill>
                <a:schemeClr val="lt1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/>
        </p:nvSpPr>
        <p:spPr>
          <a:xfrm>
            <a:off x="342000" y="912625"/>
            <a:ext cx="8460000" cy="3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$PART_OFFSET_SECTORES — Inicio de la Partición</a:t>
            </a:r>
            <a:br>
              <a:rPr lang="es" sz="18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rPr>
            </a:br>
            <a:r>
              <a:rPr lang="es" sz="18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Punto de entrada al volumen NTFS tras saltar el MBR dañado.</a:t>
            </a:r>
            <a:endParaRPr sz="1800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$LCN_MFT — Ubicación del Índice Principal</a:t>
            </a:r>
            <a:br>
              <a:rPr lang="es" sz="18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rPr>
            </a:br>
            <a:r>
              <a:rPr lang="es" sz="18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Dirección lógica de la $MFT (tabla maestra de archivos del sistema).</a:t>
            </a:r>
            <a:endParaRPr sz="1800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$LCN_MFTMIRR — Copia Espejo del Índice</a:t>
            </a:r>
            <a:br>
              <a:rPr lang="es" sz="18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rPr>
            </a:br>
            <a:r>
              <a:rPr lang="es" sz="18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Copia de seguridad de la $MFT. Actúa como “caja negra” del sistema.</a:t>
            </a:r>
            <a:endParaRPr sz="1800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$BYTES_PER_CLUSTER — Tamaño de Bloque NTFS</a:t>
            </a:r>
            <a:br>
              <a:rPr lang="es" sz="18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rPr>
            </a:br>
            <a:r>
              <a:rPr lang="es" sz="18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Define la unidad mínima de asignación usada en todos los cálculos de offsets.</a:t>
            </a:r>
            <a:endParaRPr sz="1800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130" name="Google Shape;130;p24"/>
          <p:cNvSpPr txBox="1"/>
          <p:nvPr>
            <p:ph idx="4294967295" type="ctrTitle"/>
          </p:nvPr>
        </p:nvSpPr>
        <p:spPr>
          <a:xfrm>
            <a:off x="342000" y="0"/>
            <a:ext cx="8403000" cy="94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lt1"/>
                </a:solidFill>
                <a:latin typeface="Lexend Black"/>
                <a:ea typeface="Lexend Black"/>
                <a:cs typeface="Lexend Black"/>
                <a:sym typeface="Lexend Black"/>
              </a:rPr>
              <a:t>Variables fundamentales de la Cirugía MOCR</a:t>
            </a:r>
            <a:endParaRPr sz="2400">
              <a:solidFill>
                <a:schemeClr val="lt1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/>
        </p:nvSpPr>
        <p:spPr>
          <a:xfrm>
            <a:off x="342000" y="699550"/>
            <a:ext cx="8305500" cy="4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$PART_OFFSET_BYTES — Inicio en Bytes</a:t>
            </a:r>
            <a:br>
              <a:rPr b="1" lang="es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b="1" lang="es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Versión en bytes del offset de partición. Base para los cálculos de posición.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$OFFSET_MFT_CORRUPTA — Zona Dañada</a:t>
            </a:r>
            <a:br>
              <a:rPr b="1" lang="es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b="1" lang="es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Dirección exacta (en bytes) donde comienza la MFT destruida.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$OFFSET_MFTMIRR_SANO — Zona Donante</a:t>
            </a:r>
            <a:br>
              <a:rPr b="1" lang="es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b="1" lang="es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Dirección (en bytes) donde se encuentra la copia intacta del MFTMirr.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$SECTOR_OFFSET — Coordenada de Inyección</a:t>
            </a:r>
            <a:br>
              <a:rPr b="1" lang="es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b="1" lang="es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Offset expresado en sectores de 512 bytes para asegurar la alineación.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25"/>
          <p:cNvSpPr txBox="1"/>
          <p:nvPr>
            <p:ph idx="4294967295" type="ctrTitle"/>
          </p:nvPr>
        </p:nvSpPr>
        <p:spPr>
          <a:xfrm>
            <a:off x="293250" y="125350"/>
            <a:ext cx="8403000" cy="5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lt1"/>
                </a:solidFill>
                <a:latin typeface="Lexend Black"/>
                <a:ea typeface="Lexend Black"/>
                <a:cs typeface="Lexend Black"/>
                <a:sym typeface="Lexend Black"/>
              </a:rPr>
              <a:t>Variables fundamentales de la Cirugía MOCR</a:t>
            </a:r>
            <a:endParaRPr sz="2400">
              <a:solidFill>
                <a:schemeClr val="lt1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ctrTitle"/>
          </p:nvPr>
        </p:nvSpPr>
        <p:spPr>
          <a:xfrm>
            <a:off x="1876200" y="3691350"/>
            <a:ext cx="5391600" cy="94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500">
                <a:solidFill>
                  <a:schemeClr val="lt1"/>
                </a:solidFill>
                <a:latin typeface="Lexend Black"/>
                <a:ea typeface="Lexend Black"/>
                <a:cs typeface="Lexend Black"/>
                <a:sym typeface="Lexend Black"/>
              </a:rPr>
              <a:t>GRACIAS</a:t>
            </a:r>
            <a:endParaRPr sz="6500">
              <a:solidFill>
                <a:schemeClr val="lt1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  <p:pic>
        <p:nvPicPr>
          <p:cNvPr id="142" name="Google Shape;142;p26" title="Logo2025_2000p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2000" y="306950"/>
            <a:ext cx="3300400" cy="33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6"/>
          <p:cNvSpPr txBox="1"/>
          <p:nvPr/>
        </p:nvSpPr>
        <p:spPr>
          <a:xfrm>
            <a:off x="294700" y="1216250"/>
            <a:ext cx="4506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Toda la documentación y el código estarán disponibles en mi GitHub cuando se publique el paper.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